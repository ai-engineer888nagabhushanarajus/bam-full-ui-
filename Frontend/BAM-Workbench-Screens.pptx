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2743200"/>
            <a:ext cx="109728" cy="1371600"/>
          </a:xfrm>
          <a:prstGeom prst="rect">
            <a:avLst/>
          </a:prstGeom>
          <a:solidFill>
            <a:srgbClr val="5B8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260604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E6ECF5"/>
                </a:solidFill>
                <a:latin typeface="Inter"/>
              </a:rPr>
              <a:t>BuLLM BAM Workbench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3429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8A9BB8"/>
                </a:solidFill>
                <a:latin typeface="Inter"/>
              </a:rPr>
              <a:t>UI screens: Data Ingestion → RAG → FDE Workbench → Sandbox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603504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200" b="0">
                <a:solidFill>
                  <a:srgbClr val="8A9BB8"/>
                </a:solidFill>
                <a:latin typeface="Inter"/>
              </a:rPr>
              <a:t>16 screens in 20 views · captured from the running app (localhost:5174), dark theme, 1440×900 · updated 8 Oct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1 · DATA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1.1 Intake console: upload &amp; virus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Drag and drop, Browse files or Bulk upload. Every file passes BuLL*Sav (Digibull Security AntiVirus Engine) before it can enter the pipeline.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01 / 20</a:t>
            </a:r>
          </a:p>
        </p:txBody>
      </p:sp>
      <p:pic>
        <p:nvPicPr>
          <p:cNvPr id="6" name="Screen 1.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1 · DATA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1.1 Review your selection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Incompatible files are filtered out first (39 picked, 10 usable); Upload turns green only when the choice fits 25 files / 250 MB.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02 / 20</a:t>
            </a:r>
          </a:p>
        </p:txBody>
      </p:sp>
      <p:pic>
        <p:nvPicPr>
          <p:cNvPr id="6" name="Screen 1.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1 · DATA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1.1 Live virus scan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Upload → Quarantine → BuLL*Sav scan → Verdict → Released, three files at a time. Files stay in quarantine until they are clean.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03 / 20</a:t>
            </a:r>
          </a:p>
        </p:txBody>
      </p:sp>
      <p:pic>
        <p:nvPicPr>
          <p:cNvPr id="6" name="Screen 1.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1 · DATA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1.1 All files clean: ready for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Start ingestion run hands only verified, released files to RAG. Nothing starts on upload alone.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04 / 20</a:t>
            </a:r>
          </a:p>
        </p:txBody>
      </p:sp>
      <p:pic>
        <p:nvPicPr>
          <p:cNvPr id="6" name="Screen 1.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1 · DATA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1.2 Ingestion queue/jobs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Per-file state, stage, progress and storage path, filterable by state.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05 / 20</a:t>
            </a:r>
          </a:p>
        </p:txBody>
      </p:sp>
      <p:pic>
        <p:nvPicPr>
          <p:cNvPr id="6" name="Screen 1.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1 · DATA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1.3 File detail/preview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Metadata for each stored file. The parse preview says Not available: there is no parser contract yet.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06 / 20</a:t>
            </a:r>
          </a:p>
        </p:txBody>
      </p:sp>
      <p:pic>
        <p:nvPicPr>
          <p:cNvPr id="6" name="Screen 1.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1 · DATA INGESTION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1.4 Ingestion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Accepted files and what was filtered out, with reasons. Stage 1 completes 4/4 automatically after the hand-off.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07 / 20</a:t>
            </a:r>
          </a:p>
        </p:txBody>
      </p:sp>
      <p:pic>
        <p:nvPicPr>
          <p:cNvPr id="6" name="Screen 1.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2 · RAG (COGNEE + OKF)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2.1 Context graph explorer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Cognee knowledge graph with labelled relations, a node inspector and the Entity relations card.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08 / 20</a:t>
            </a:r>
          </a:p>
        </p:txBody>
      </p:sp>
      <p:pic>
        <p:nvPicPr>
          <p:cNvPr id="6" name="Screen 2.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2 · RAG (COGNEE + OKF)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2.2 Schema generation workbench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Draft Pydantic schemas from the OKF classes. Send to Workbench creates a draft hand-off; nothing is approved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09 / 20</a:t>
            </a:r>
          </a:p>
        </p:txBody>
      </p:sp>
      <p:pic>
        <p:nvPicPr>
          <p:cNvPr id="6" name="Screen 2.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2 · RAG (COGNEE + OKF)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2.3 Retrieval/context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Coverage per OKF class, extraction jobs and GraphRAG answers with S3-resolvable citations.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10 / 20</a:t>
            </a:r>
          </a:p>
        </p:txBody>
      </p:sp>
      <p:pic>
        <p:nvPicPr>
          <p:cNvPr id="6" name="Screen 2.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2 · RAG (COGNEE + OKF)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2.4 RAG review: OKF v0.2 bundle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The RAG context as a Google Open Knowledge Format v0.2 bundle: provenance, trust tiers, conformance check and .tar export.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11 / 20</a:t>
            </a:r>
          </a:p>
        </p:txBody>
      </p:sp>
      <p:pic>
        <p:nvPicPr>
          <p:cNvPr id="6" name="Screen 2.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3 · FDE WORKBENCH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3.1 SOW generation and approval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ISATVON SOW in TipTap. SOW accuracy = rule checks + Laya judge (v1 scored 76). Edit directly, then approve.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12 / 20</a:t>
            </a:r>
          </a:p>
        </p:txBody>
      </p:sp>
      <p:pic>
        <p:nvPicPr>
          <p:cNvPr id="6" name="Screen 3.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3 · FDE WORKBENCH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3.2 ISATVON skills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AG Grid grouped Agent &gt; Skill with inline cell editing: double-click, Enter or just type in the cell.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13 / 20</a:t>
            </a:r>
          </a:p>
        </p:txBody>
      </p:sp>
      <p:pic>
        <p:nvPicPr>
          <p:cNvPr id="6" name="Screen 3.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3 · FDE WORKBENCH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3.3 Skills/code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Read-only view of one skill: its ISATVON contract and the code generated from it.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14 / 20</a:t>
            </a:r>
          </a:p>
        </p:txBody>
      </p:sp>
      <p:pic>
        <p:nvPicPr>
          <p:cNvPr id="6" name="Screen 3.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3 · FDE WORKBENCH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3.4 Manifest and deploy prep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Release prerequisites, draft vs certified manifest, version history and frozen artifacts.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15 / 20</a:t>
            </a:r>
          </a:p>
        </p:txBody>
      </p:sp>
      <p:pic>
        <p:nvPicPr>
          <p:cNvPr id="6" name="Screen 3.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4 ·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4.1 Activities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Temporal activities A–D, then the review gate: View manifest → View generated code → Approve and continue to 4.4.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16 / 20</a:t>
            </a:r>
          </a:p>
        </p:txBody>
      </p:sp>
      <p:pic>
        <p:nvPicPr>
          <p:cNvPr id="6" name="Screen 4.1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4 ·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4.3 Manifest JSON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Editable Monaco diff against the generated manifest. Opening it completes step 01 of the gate.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17 / 20</a:t>
            </a:r>
          </a:p>
        </p:txBody>
      </p:sp>
      <p:pic>
        <p:nvPicPr>
          <p:cNvPr id="6" name="Screen 4.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4 ·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4.2 Generated code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Editable code diff per skill; saving re-runs the AST check. Opening it completes step 02 of the gate.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18 / 20</a:t>
            </a:r>
          </a:p>
        </p:txBody>
      </p:sp>
      <p:pic>
        <p:nvPicPr>
          <p:cNvPr id="6" name="Screen 4.2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4 ·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4.4 Sandbox and assertions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Certification checklist, CubeSandbox run and Promptfoo assertions: Test → Review → Commit to BAM_db → Deploy to Staging.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19 / 20</a:t>
            </a:r>
          </a:p>
        </p:txBody>
      </p:sp>
      <p:pic>
        <p:nvPicPr>
          <p:cNvPr id="6" name="Screen 4.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52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1">
                <a:solidFill>
                  <a:srgbClr val="5B83F2"/>
                </a:solidFill>
                <a:latin typeface="Inter"/>
              </a:rPr>
              <a:t>4 · SANDBOX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400" b="1">
                <a:solidFill>
                  <a:srgbClr val="E6ECF5"/>
                </a:solidFill>
                <a:latin typeface="Inter"/>
              </a:rPr>
              <a:t>4.4 Deployed to Staging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60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b="0">
                <a:solidFill>
                  <a:srgbClr val="8A9BB8"/>
                </a:solidFill>
                <a:latin typeface="Inter"/>
              </a:rPr>
              <a:t>After the deploy the Staging view switches the whole UI to the orange palette (FDE stays blue).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0" y="27432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 b="0">
                <a:solidFill>
                  <a:srgbClr val="8A9BB8"/>
                </a:solidFill>
                <a:latin typeface="Inter"/>
              </a:rPr>
              <a:t>20 / 20</a:t>
            </a:r>
          </a:p>
        </p:txBody>
      </p:sp>
      <p:pic>
        <p:nvPicPr>
          <p:cNvPr id="6" name="Screen 4.4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6231" y="1371600"/>
            <a:ext cx="8485632" cy="530352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