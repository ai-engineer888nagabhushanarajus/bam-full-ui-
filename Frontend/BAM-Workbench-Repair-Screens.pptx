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" cy="1371600"/>
          </a:xfrm>
          <a:prstGeom prst="rect">
            <a:avLst/>
          </a:prstGeom>
          <a:solidFill>
            <a:srgbClr val="5B8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E6ECF5"/>
                </a:solidFill>
                <a:latin typeface="Inter"/>
              </a:rPr>
              <a:t>BuLLM BAM Workbench: UI repair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429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8A9BB8"/>
                </a:solidFill>
                <a:latin typeface="Inter"/>
              </a:rPr>
              <a:t>16 screens, diffs, certification evidence, locked-state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9BB8"/>
                </a:solidFill>
                <a:latin typeface="Inter"/>
              </a:rPr>
              <a:t>28 captures from the running app (localhost:5174) after the 7 Oct 2026 review fixes · simulated demo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16 screens: 4 stages x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One registry; counters are n/4 done, with the current position ("at 4.1") shown separately. Back/forward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01 / 28</a:t>
            </a:r>
          </a:p>
        </p:txBody>
      </p:sp>
      <p:pic>
        <p:nvPicPr>
          <p:cNvPr id="6" name="Picture 5" descr="30-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1 ·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1.1 Intake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Upload / Bulk plus a "Drag files here or browse" dropzone. Processing after upload is automatic.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02 / 28</a:t>
            </a:r>
          </a:p>
        </p:txBody>
      </p:sp>
      <p:pic>
        <p:nvPicPr>
          <p:cNvPr id="6" name="Picture 5" descr="05-11-in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1 ·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1.2 Ingestion queue/jobs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Per-file state, stage, progress and errors; refused files keep their reason. Quarantine is shown as not implemented.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03 / 28</a:t>
            </a:r>
          </a:p>
        </p:txBody>
      </p:sp>
      <p:pic>
        <p:nvPicPr>
          <p:cNvPr id="6" name="Picture 5" descr="06-12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1 ·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1.3 File detail/preview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Metadata with copyable keys. Parse preview says "Not available" (no parse service); fixture lineage is labelled.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04 / 28</a:t>
            </a:r>
          </a:p>
        </p:txBody>
      </p:sp>
      <p:pic>
        <p:nvPicPr>
          <p:cNvPr id="6" name="Picture 5" descr="07-13-fil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1 ·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1.4 Ingestion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Accepted vs rejected items with reasons, and hand-off readiness to RAG.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05 / 28</a:t>
            </a:r>
          </a:p>
        </p:txBody>
      </p:sp>
      <p:pic>
        <p:nvPicPr>
          <p:cNvPr id="6" name="Picture 5" descr="08-14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2.1 Context graph: selected 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Inspector shows OKF class, source objects (copyable URIs), relations, facts and confidence. Failure simulator hidden.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06 / 28</a:t>
            </a:r>
          </a:p>
        </p:txBody>
      </p:sp>
      <p:pic>
        <p:nvPicPr>
          <p:cNvPr id="6" name="Picture 5" descr="09-21-graph-insp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2.2 Send to Workbench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Destination, version and run are confirmed before a draft hand-off; nothing is approved.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07 / 28</a:t>
            </a:r>
          </a:p>
        </p:txBody>
      </p:sp>
      <p:pic>
        <p:nvPicPr>
          <p:cNvPr id="6" name="Picture 5" descr="10-22-send-con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2.3 Retrieval quality: answer and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Full CONFIDENCE header; cited answer with a copyable S3 URI; loading, error and no-answer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08 / 28</a:t>
            </a:r>
          </a:p>
        </p:txBody>
      </p:sp>
      <p:pic>
        <p:nvPicPr>
          <p:cNvPr id="6" name="Picture 5" descr="12-23-quality-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2.4 RAG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Graph/schema/retrieval readiness, open gaps, the reviewed hand-off, and dataset provenance.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09 / 28</a:t>
            </a:r>
          </a:p>
        </p:txBody>
      </p:sp>
      <p:pic>
        <p:nvPicPr>
          <p:cNvPr id="6" name="Picture 5" descr="11-24-rag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3 · FDE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3.2 locked: no source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Reason and action come from the same prerequisite: Upload documents opens 1.1.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10 / 28</a:t>
            </a:r>
          </a:p>
        </p:txBody>
      </p:sp>
      <p:pic>
        <p:nvPicPr>
          <p:cNvPr id="6" name="Picture 5" descr="01-locked-32-no-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3 · FDE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3.2 locked: SOW draft awaiting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SOW v1 is a draft awaiting approval; Review SOW opens 3.1.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11 / 28</a:t>
            </a:r>
          </a:p>
        </p:txBody>
      </p:sp>
      <p:pic>
        <p:nvPicPr>
          <p:cNvPr id="6" name="Picture 5" descr="13-locked-32-review-s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3 · FDE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3.1 first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With no earlier saved version the screen says so instead of showing a fake diff.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12 / 28</a:t>
            </a:r>
          </a:p>
        </p:txBody>
      </p:sp>
      <p:pic>
        <p:nvPicPr>
          <p:cNvPr id="6" name="Picture 5" descr="14-31-first-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3 · FDE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3.1 SOW v1 → v2 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Real edits: 1 added, 1 removed, 1 modified; legend, baseline → current, one change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13 / 28</a:t>
            </a:r>
          </a:p>
        </p:txBody>
      </p:sp>
      <p:pic>
        <p:nvPicPr>
          <p:cNvPr id="6" name="Picture 5" descr="15-31-sow-v2-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3 · FDE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3.2 edited row and right 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Column jump chips, changed-row badge, inline 7-field editor with before/after; rail = manifest diff + certification.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14 / 28</a:t>
            </a:r>
          </a:p>
        </p:txBody>
      </p:sp>
      <p:pic>
        <p:nvPicPr>
          <p:cNvPr id="6" name="Picture 5" descr="16-32-grid-edited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3 · FDE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3.3 Skills/code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Read-only review of one skill: contract, code diff vs generated, findings and its assertions.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15 / 28</a:t>
            </a:r>
          </a:p>
        </p:txBody>
      </p:sp>
      <p:pic>
        <p:nvPicPr>
          <p:cNvPr id="6" name="Picture 5" descr="28-33-skill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3 · FDE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3.4 Manifest and deploy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Release prerequisites, draft vs certified, version history (draft/certified/frozen/deployed), frozen artifacts.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16 / 28</a:t>
            </a:r>
          </a:p>
        </p:txBody>
      </p:sp>
      <p:pic>
        <p:nvPicPr>
          <p:cNvPr id="6" name="Picture 5" descr="29-34-release-p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4.1 Activities: recovered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One narrative: C attempt 1 failed (kept in history), D fallback, C passed on attempt 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17 / 28</a:t>
            </a:r>
          </a:p>
        </p:txBody>
      </p:sp>
      <p:pic>
        <p:nvPicPr>
          <p:cNvPr id="6" name="Picture 5" descr="17-41-activities-recov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4.1 Activities: open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Open finding with severity, file:line and a jump to 4.2.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18 / 28</a:t>
            </a:r>
          </a:p>
        </p:txBody>
      </p:sp>
      <p:pic>
        <p:nvPicPr>
          <p:cNvPr id="6" name="Picture 5" descr="20-41-open-f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4.2 Generated code: stale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Unsaved edits are flagged as not yet validated; actions never overlap the editor.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19 / 28</a:t>
            </a:r>
          </a:p>
        </p:txBody>
      </p:sp>
      <p:pic>
        <p:nvPicPr>
          <p:cNvPr id="6" name="Picture 5" descr="18-42-unsaved-st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4.2 Generated code: invalid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AST check fails on line 11; edits are kept; approval blocked until it passes.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20 / 28</a:t>
            </a:r>
          </a:p>
        </p:txBody>
      </p:sp>
      <p:pic>
        <p:nvPicPr>
          <p:cNvPr id="6" name="Picture 5" descr="19-42-invalid-open-f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4.2 Generated code: edited and passing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Inline diff against the generated code after a valid reviewed edit.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21 / 28</a:t>
            </a:r>
          </a:p>
        </p:txBody>
      </p:sp>
      <p:pic>
        <p:nvPicPr>
          <p:cNvPr id="6" name="Picture 5" descr="21-42-edited-diff-pas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4.3 Manifest JSON: invalid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Inline JSON error; Save disabled with the reason; text kept.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22 / 28</a:t>
            </a:r>
          </a:p>
        </p:txBody>
      </p:sp>
      <p:pic>
        <p:nvPicPr>
          <p:cNvPr id="6" name="Picture 5" descr="22-43-invalid-j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4.3 Manifest JSON: saved, new hash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Version 1.0.1, hash recomputed, approval cleared; baseline labelled (first build: no certified version).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23 / 28</a:t>
            </a:r>
          </a:p>
        </p:txBody>
      </p:sp>
      <p:pic>
        <p:nvPicPr>
          <p:cNvPr id="6" name="Picture 5" descr="23-43-saved-new-h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4.3 Approve manifest and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Retry and Approve with helper text fully visible at the end of the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24 / 28</a:t>
            </a:r>
          </a:p>
        </p:txBody>
      </p:sp>
      <p:pic>
        <p:nvPicPr>
          <p:cNvPr id="6" name="Picture 5" descr="24-43-approve-vis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4.4 Certification checklist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Checklist bound to the tested hash; an assertion expanded into fixture, input, expected, observed and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25 / 28</a:t>
            </a:r>
          </a:p>
        </p:txBody>
      </p:sp>
      <p:pic>
        <p:nvPicPr>
          <p:cNvPr id="6" name="Picture 5" descr="25-44-checklist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4.4 Certified, frozen, deployed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All five items pass for 1.0.1; certified and frozen evidence separate from Deployed to Staging (simulated).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26 / 28</a:t>
            </a:r>
          </a:p>
        </p:txBody>
      </p:sp>
      <p:pic>
        <p:nvPicPr>
          <p:cNvPr id="6" name="Picture 5" descr="26-44-certified-deploy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4.4 Sticky skill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The skill label stays visible while its assertion rows scroll.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27 / 28</a:t>
            </a:r>
          </a:p>
        </p:txBody>
      </p:sp>
      <p:pic>
        <p:nvPicPr>
          <p:cNvPr id="6" name="Picture 5" descr="27-44-sticky-skill-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THEMES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4.4 in light 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Same tokens drive both themes.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28 / 28</a:t>
            </a:r>
          </a:p>
        </p:txBody>
      </p:sp>
      <p:pic>
        <p:nvPicPr>
          <p:cNvPr id="6" name="Picture 5" descr="36-light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